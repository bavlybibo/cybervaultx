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pp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49808" cy="749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08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033"/>
                </a:solidFill>
              </a:rPr>
              <a:t>CyberVault X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76656" y="22128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</a:rPr>
              <a:t>Secure Password Manager with Local Encryption at Rest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76656" y="26791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</a:rPr>
              <a:t>CET334 - Cryptographic Algorithms &amp; Protocols</a:t>
            </a:r>
            <a:endParaRPr lang="en-US" sz="1050" dirty="0"/>
          </a:p>
        </p:txBody>
      </p:sp>
      <p:pic>
        <p:nvPicPr>
          <p:cNvPr id="6" name="Image 1" descr="assets/sp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777240"/>
            <a:ext cx="4343400" cy="3337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656" y="4800600"/>
            <a:ext cx="1097280" cy="310896"/>
          </a:xfrm>
          <a:prstGeom prst="rect">
            <a:avLst/>
          </a:prstGeom>
          <a:solidFill>
            <a:srgbClr val="ECFEFF"/>
          </a:solidFill>
          <a:ln w="7620">
            <a:solidFill>
              <a:srgbClr val="BAE6F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Local-first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920240" y="4800600"/>
            <a:ext cx="1005840" cy="310896"/>
          </a:xfrm>
          <a:prstGeom prst="rect">
            <a:avLst/>
          </a:prstGeom>
          <a:solidFill>
            <a:srgbClr val="ECFEFF"/>
          </a:solidFill>
          <a:ln w="7620">
            <a:solidFill>
              <a:srgbClr val="BAE6F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AES-GCM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063240" y="4800600"/>
            <a:ext cx="1005840" cy="310896"/>
          </a:xfrm>
          <a:prstGeom prst="rect">
            <a:avLst/>
          </a:prstGeom>
          <a:solidFill>
            <a:srgbClr val="ECFEFF"/>
          </a:solidFill>
          <a:ln w="7620">
            <a:solidFill>
              <a:srgbClr val="BAE6F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PBKDF2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206240" y="4800600"/>
            <a:ext cx="1234440" cy="310896"/>
          </a:xfrm>
          <a:prstGeom prst="rect">
            <a:avLst/>
          </a:prstGeom>
          <a:solidFill>
            <a:srgbClr val="ECFEFF"/>
          </a:solidFill>
          <a:ln w="7620">
            <a:solidFill>
              <a:srgbClr val="BAE6F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AI-style Local Security Coach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76656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Professional release package: source code, tests, final report, presentation deck, and live demo plan.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market need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760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</a:rPr>
              <a:t>Password reuse turns one leaked account into many compromised accounts.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The user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45536"/>
            <a:ext cx="33832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People save many passwords, reuse weak patterns, and rarely know which accounts are risky.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40080" y="3675888"/>
            <a:ext cx="338328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The security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3145536"/>
            <a:ext cx="33832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A plaintext or weak vault becomes a single point of failure. The vault must protect secrets even if the database is copied.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43400" y="3675888"/>
            <a:ext cx="33832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The academic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3145536"/>
            <a:ext cx="33832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The project must prove real cryptographic implementation, working code, documentation, and live demo readiness.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6720" y="3675888"/>
            <a:ext cx="33832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B5F"/>
                </a:solidFill>
              </a:rPr>
              <a:t>100+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online accounts per user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42900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</a:rPr>
              <a:t>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cloud uploads required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08076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076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local encrypted vault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73252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</a:rPr>
              <a:t>20/20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73252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target presentation grade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10789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</a:rPr>
              <a:t>CyberVault X is a local encrypted password manager with security intelligence built around the vault.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Encrypted Vault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59736"/>
            <a:ext cx="31089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AES-GCM encrypted credential fields stored locally in SQLite.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5800" y="3172968"/>
            <a:ext cx="3108960" cy="0"/>
          </a:xfrm>
          <a:prstGeom prst="line">
            <a:avLst/>
          </a:prstGeom>
          <a:noFill/>
          <a:ln w="25400">
            <a:solidFill>
              <a:srgbClr val="173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Security Center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459736"/>
            <a:ext cx="31089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Weak, reused, breached, stale, and metadata risk analysis.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26280" y="3172968"/>
            <a:ext cx="310896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AI-style Local Security Coach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2459736"/>
            <a:ext cx="31089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Local deterministic advisor that turns findings into priority actions.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366760" y="3172968"/>
            <a:ext cx="310896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Proof Center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517136"/>
            <a:ext cx="31089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Verifies encrypted schema, audit chain, backup preview, and report package hashes.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85800" y="5230368"/>
            <a:ext cx="31089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Report Package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4517136"/>
            <a:ext cx="31089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Privacy-safe executive report, audit log, AI summary, and manifest.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526280" y="5230368"/>
            <a:ext cx="3108960" cy="0"/>
          </a:xfrm>
          <a:prstGeom prst="line">
            <a:avLst/>
          </a:prstGeom>
          <a:noFill/>
          <a:ln w="25400">
            <a:solidFill>
              <a:srgbClr val="173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Release Ready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4517136"/>
            <a:ext cx="31089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Tests, build script, preflight checks, final report, and presentation deck.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366760" y="5230368"/>
            <a:ext cx="310896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14600" y="2770632"/>
            <a:ext cx="960120" cy="0"/>
          </a:xfrm>
          <a:prstGeom prst="line">
            <a:avLst/>
          </a:prstGeom>
          <a:noFill/>
          <a:ln w="19050">
            <a:solidFill>
              <a:srgbClr val="34405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770632"/>
            <a:ext cx="960120" cy="0"/>
          </a:xfrm>
          <a:prstGeom prst="line">
            <a:avLst/>
          </a:prstGeom>
          <a:noFill/>
          <a:ln w="19050">
            <a:solidFill>
              <a:srgbClr val="34405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03720" y="2770632"/>
            <a:ext cx="960120" cy="0"/>
          </a:xfrm>
          <a:prstGeom prst="line">
            <a:avLst/>
          </a:prstGeom>
          <a:noFill/>
          <a:ln w="19050">
            <a:solidFill>
              <a:srgbClr val="34405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098280" y="2770632"/>
            <a:ext cx="960120" cy="0"/>
          </a:xfrm>
          <a:prstGeom prst="line">
            <a:avLst/>
          </a:prstGeom>
          <a:noFill/>
          <a:ln w="19050">
            <a:solidFill>
              <a:srgbClr val="34405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4360" y="2029968"/>
            <a:ext cx="1600200" cy="384048"/>
          </a:xfrm>
          <a:prstGeom prst="rect">
            <a:avLst/>
          </a:prstGeom>
          <a:solidFill>
            <a:srgbClr val="F8FAFC"/>
          </a:solidFill>
          <a:ln w="1397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Tkinter screens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Dialogs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Demo flow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2029968"/>
            <a:ext cx="1600200" cy="384048"/>
          </a:xfrm>
          <a:prstGeom prst="rect">
            <a:avLst/>
          </a:prstGeom>
          <a:solidFill>
            <a:srgbClr val="F8FAFC"/>
          </a:solidFill>
          <a:ln w="13970">
            <a:solidFill>
              <a:srgbClr val="173B5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Manager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542032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Vault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Settings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Auth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029968"/>
            <a:ext cx="1600200" cy="384048"/>
          </a:xfrm>
          <a:prstGeom prst="rect">
            <a:avLst/>
          </a:prstGeom>
          <a:solidFill>
            <a:srgbClr val="F8FAFC"/>
          </a:solidFill>
          <a:ln w="13970">
            <a:solidFill>
              <a:srgbClr val="EA580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Services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542032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Backup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Reports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AI-style Local Security Coach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Proof checks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8040" y="2029968"/>
            <a:ext cx="1600200" cy="384048"/>
          </a:xfrm>
          <a:prstGeom prst="rect">
            <a:avLst/>
          </a:prstGeom>
          <a:solidFill>
            <a:srgbClr val="F8FAFC"/>
          </a:solidFill>
          <a:ln w="13970">
            <a:solidFill>
              <a:srgbClr val="16A3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Crypto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542032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AES-GCM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PBKDF2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SHA hashes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72600" y="2029968"/>
            <a:ext cx="1600200" cy="384048"/>
          </a:xfrm>
          <a:prstGeom prst="rect">
            <a:avLst/>
          </a:prstGeom>
          <a:solidFill>
            <a:srgbClr val="F8FAFC"/>
          </a:solidFill>
          <a:ln w="13970">
            <a:solidFill>
              <a:srgbClr val="10203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SQLite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2542032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Encrypted rows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History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Audit 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" y="4562856"/>
            <a:ext cx="7772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Service separation keeps crypto/database logic reusable if UI is migrated to PyQt5.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" y="4928616"/>
            <a:ext cx="7772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All vault analysis is local; no raw secrets are sent to external services.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3272" y="5294376"/>
            <a:ext cx="7772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Release preflight validates structure, docs, dependency readiness, and breach-list format.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Cryptographic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94560" y="2926080"/>
            <a:ext cx="1097280" cy="0"/>
          </a:xfrm>
          <a:prstGeom prst="line">
            <a:avLst/>
          </a:prstGeom>
          <a:noFill/>
          <a:ln w="17780">
            <a:solidFill>
              <a:srgbClr val="34405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926080"/>
            <a:ext cx="1097280" cy="0"/>
          </a:xfrm>
          <a:prstGeom prst="line">
            <a:avLst/>
          </a:prstGeom>
          <a:noFill/>
          <a:ln w="17780">
            <a:solidFill>
              <a:srgbClr val="34405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49440" y="2926080"/>
            <a:ext cx="1097280" cy="0"/>
          </a:xfrm>
          <a:prstGeom prst="line">
            <a:avLst/>
          </a:prstGeom>
          <a:noFill/>
          <a:ln w="17780">
            <a:solidFill>
              <a:srgbClr val="34405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26880" y="2926080"/>
            <a:ext cx="914400" cy="0"/>
          </a:xfrm>
          <a:prstGeom prst="line">
            <a:avLst/>
          </a:prstGeom>
          <a:noFill/>
          <a:ln w="17780">
            <a:solidFill>
              <a:srgbClr val="34405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1600200" cy="32004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Master password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16002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Never stored directly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017520" y="2331720"/>
            <a:ext cx="1600200" cy="32004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PBKDF2-SHA256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2788920"/>
            <a:ext cx="16002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Derives vault key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1600200" cy="32004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AES-GCM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2788920"/>
            <a:ext cx="16002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Encrypts fields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772400" y="2331720"/>
            <a:ext cx="1600200" cy="32004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AAD binding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0" y="2788920"/>
            <a:ext cx="16002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Credential + field context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058400" y="2331720"/>
            <a:ext cx="1600200" cy="32004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SQLite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0" y="2788920"/>
            <a:ext cx="16002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Nonce/cipher pairs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22960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Why this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020056"/>
            <a:ext cx="4754880" cy="557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The database can be copied, but encrypted credential fields remain protected without the master password. AES-GCM also rejects tampered ciphertext.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22960" y="5596128"/>
            <a:ext cx="47548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Demo proof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020056"/>
            <a:ext cx="4754880" cy="557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Security Proof Center checks encrypted schema, AAD migration status, audit-chain validity, and report integrity.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492240" y="5596128"/>
            <a:ext cx="4754880" cy="0"/>
          </a:xfrm>
          <a:prstGeom prst="line">
            <a:avLst/>
          </a:prstGeom>
          <a:noFill/>
          <a:ln w="25400">
            <a:solidFill>
              <a:srgbClr val="173B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requirement coverage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Encrypted Password Vault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3886200" y="1435608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AES-GCM field encryption, local SQLite, encrypted history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10607040" cy="0"/>
          </a:xfrm>
          <a:prstGeom prst="line">
            <a:avLst/>
          </a:prstGeom>
          <a:noFill/>
          <a:ln w="8255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Master Password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886200" y="2148840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PBKDF2-SHA256, policy validation, unlock throttling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31520" y="2587752"/>
            <a:ext cx="10607040" cy="0"/>
          </a:xfrm>
          <a:prstGeom prst="line">
            <a:avLst/>
          </a:prstGeom>
          <a:noFill/>
          <a:ln w="8255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43784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Generator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886200" y="2862072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Configurable length/classes, entropy feedback, presets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1520" y="3300984"/>
            <a:ext cx="10607040" cy="0"/>
          </a:xfrm>
          <a:prstGeom prst="line">
            <a:avLst/>
          </a:prstGeom>
          <a:noFill/>
          <a:ln w="8255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57016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Offline Demo Breach-Subset Check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886200" y="3575304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Offline SHA1 dataset with local lookup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31520" y="4014216"/>
            <a:ext cx="10607040" cy="0"/>
          </a:xfrm>
          <a:prstGeom prst="line">
            <a:avLst/>
          </a:prstGeom>
          <a:noFill/>
          <a:ln w="8255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70248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Strength Analysis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3886200" y="4288536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Weak/reused/breached/stale score and recommendations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31520" y="4727448"/>
            <a:ext cx="10607040" cy="0"/>
          </a:xfrm>
          <a:prstGeom prst="line">
            <a:avLst/>
          </a:prstGeom>
          <a:noFill/>
          <a:ln w="8255">
            <a:solidFill>
              <a:srgbClr val="D0D5D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Product-grade upgrades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AI-style Local Security Coach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56816"/>
            <a:ext cx="3246120" cy="7406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Local advisor: priority queue, attacker view, fix path, business impact, and projected score gain.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85800" y="2715768"/>
            <a:ext cx="324612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55448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Security Proof Center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956816"/>
            <a:ext cx="3246120" cy="7406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One place to prove crypto posture, audit-chain validity, backup preview, and report verification.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80560" y="2715768"/>
            <a:ext cx="32461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55448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Tamper 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1956816"/>
            <a:ext cx="3246120" cy="7406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Audit events use previous-hash and event-hash linkage to expose log modification.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75320" y="2715768"/>
            <a:ext cx="32461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Encrypted backup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34256"/>
            <a:ext cx="3246120" cy="7406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Preview restore impact, handle duplicates, rollback on failure, and keep backup metadata versioned.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5093208"/>
            <a:ext cx="3246120" cy="0"/>
          </a:xfrm>
          <a:prstGeom prst="line">
            <a:avLst/>
          </a:prstGeom>
          <a:noFill/>
          <a:ln w="25400">
            <a:solidFill>
              <a:srgbClr val="173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93192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Report package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334256"/>
            <a:ext cx="3246120" cy="7406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Exports HTML reports, AI summary, manifest hashes, and local signature verification.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80560" y="5093208"/>
            <a:ext cx="32461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93192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Release preflight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4334256"/>
            <a:ext cx="3246120" cy="7406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Validates docs, tests, structure, dataset format, and presentation assets before packaging.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75320" y="5093208"/>
            <a:ext cx="324612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Testing proves that the app is more than a UI demo.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2048256"/>
            <a:ext cx="5715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AES-GCM backup roundtrip and wrong-passphrase failure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2459736"/>
            <a:ext cx="5715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AAD blocks encrypted-field swaps between records/fields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871216"/>
            <a:ext cx="5715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Backup import rolls back if validation fails mid-transaction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0432" y="3282696"/>
            <a:ext cx="5715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Report package verifier detects tampered artifacts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694176"/>
            <a:ext cx="5715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AI-style Local Security Coach payloads are redacted and privacy-safe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4105656"/>
            <a:ext cx="5715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Release preflight checks final submission assets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80960" y="2029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Commands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0" y="2423160"/>
            <a:ext cx="3383280" cy="1188720"/>
          </a:xfrm>
          <a:prstGeom prst="rect">
            <a:avLst/>
          </a:prstGeom>
          <a:solidFill>
            <a:srgbClr val="F2F4F7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python -m pytest -q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python tools/release_preflight.py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build_release.bat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01000" y="4343400"/>
            <a:ext cx="2377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pass/fail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0100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automated proof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path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75488" cy="384048"/>
          </a:xfrm>
          <a:prstGeom prst="rect">
            <a:avLst/>
          </a:prstGeom>
          <a:solidFill>
            <a:srgbClr val="0E749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453896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Create or unlock vault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475488" cy="384048"/>
          </a:xfrm>
          <a:prstGeom prst="rect">
            <a:avLst/>
          </a:prstGeom>
          <a:solidFill>
            <a:srgbClr val="0E749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2203704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Create Assessment Workspace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475488" cy="384048"/>
          </a:xfrm>
          <a:prstGeom prst="rect">
            <a:avLst/>
          </a:prstGeom>
          <a:solidFill>
            <a:srgbClr val="0E749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2953512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Dashboard health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66744"/>
            <a:ext cx="475488" cy="384048"/>
          </a:xfrm>
          <a:prstGeom prst="rect">
            <a:avLst/>
          </a:prstGeom>
          <a:solidFill>
            <a:srgbClr val="0E749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703320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Security Center findings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475488" cy="384048"/>
          </a:xfrm>
          <a:prstGeom prst="rect">
            <a:avLst/>
          </a:prstGeom>
          <a:solidFill>
            <a:srgbClr val="0E749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4453128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Generate AI-style Local Security Coach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417320"/>
            <a:ext cx="475488" cy="384048"/>
          </a:xfrm>
          <a:prstGeom prst="rect">
            <a:avLst/>
          </a:prstGeom>
          <a:solidFill>
            <a:srgbClr val="173B5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7728" y="1453896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Generate replacement password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167128"/>
            <a:ext cx="475488" cy="384048"/>
          </a:xfrm>
          <a:prstGeom prst="rect">
            <a:avLst/>
          </a:prstGeom>
          <a:solidFill>
            <a:srgbClr val="173B5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67728" y="2203704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Run Security Proof Center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916936"/>
            <a:ext cx="475488" cy="384048"/>
          </a:xfrm>
          <a:prstGeom prst="rect">
            <a:avLst/>
          </a:prstGeom>
          <a:solidFill>
            <a:srgbClr val="173B5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67728" y="2953512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Export and verify report package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666744"/>
            <a:ext cx="475488" cy="384048"/>
          </a:xfrm>
          <a:prstGeom prst="rect">
            <a:avLst/>
          </a:prstGeom>
          <a:solidFill>
            <a:srgbClr val="173B5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67728" y="3703320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Encrypted backup preview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4416552"/>
            <a:ext cx="475488" cy="384048"/>
          </a:xfrm>
          <a:prstGeom prst="rect">
            <a:avLst/>
          </a:prstGeom>
          <a:solidFill>
            <a:srgbClr val="173B5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7728" y="4453128"/>
            <a:ext cx="4160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Panic lock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715000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Goal: show encryption, analysis, proof, reports, and safe failure handling in one smooth story.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Honest 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Breach database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11096"/>
            <a:ext cx="324612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Bundled file is a small offline demo subset. Future: custom import wizard or HIBP k-anonymity.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31520" y="2624328"/>
            <a:ext cx="32461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50876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Runtime memory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911096"/>
            <a:ext cx="324612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Python cannot fully guarantee string zeroization. Auto-lock and clipboard clearing reduce exposure.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80560" y="2624328"/>
            <a:ext cx="32461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50876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Local manifest integrity signature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1911096"/>
            <a:ext cx="324612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HMAC provides local manifest integrity. Future: Ed25519 public verification key for independent proof.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29600" y="2624328"/>
            <a:ext cx="3246120" cy="0"/>
          </a:xfrm>
          <a:prstGeom prst="line">
            <a:avLst/>
          </a:prstGeom>
          <a:noFill/>
          <a:ln w="25400">
            <a:solidFill>
              <a:srgbClr val="173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GUI toolkit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88536"/>
            <a:ext cx="324612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Tkinter improves portability. Service layers allow future PyQt5 migration if required.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31520" y="5001768"/>
            <a:ext cx="324612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Commercial-style academic readiness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288536"/>
            <a:ext cx="324612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Commercial-style academic prototype. Future production version needs external audit, installer signing, and secure-memory hardening.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80560" y="5001768"/>
            <a:ext cx="32461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Screenshots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288536"/>
            <a:ext cx="324612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</a:rPr>
              <a:t>Real screenshots must be captured on the Windows demo machine after building the EXE.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29600" y="5001768"/>
            <a:ext cx="32461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CyberVault 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submission package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310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467"/>
                </a:solidFill>
              </a:rPr>
              <a:t>v5.7.2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What the instructor receives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2048256"/>
            <a:ext cx="5760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Source code with clear folders and requirements files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2459736"/>
            <a:ext cx="5760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Automated tests and release preflight script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871216"/>
            <a:ext cx="5760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Final PDF report and markdown source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0432" y="3282696"/>
            <a:ext cx="5760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PowerPoint presentation deck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694176"/>
            <a:ext cx="5760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README, security model, privacy, limitation, and demo docs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4105656"/>
            <a:ext cx="5760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GitHub plan showing team contribution split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4517136"/>
            <a:ext cx="5760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Windows EXE and screenshots after local build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Grade mapping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60920" y="233172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functionality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144000" y="233172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B5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code/docs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360920" y="388620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presentation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144000" y="388620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467"/>
                </a:solidFill>
              </a:rPr>
              <a:t>Q&amp;A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pp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691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CyberVault X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13232" y="23957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7EF"/>
                </a:solidFill>
              </a:rPr>
              <a:t>Local encryption. Practical security. Demo-ready proof.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3232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Q&amp;A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4617720"/>
            <a:ext cx="6217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Prepared answers cover AES-GCM, PBKDF2, AAD, offline demo breach-subset detection, AI-style Local Security Coach privacy, Tkinter choice, and project limitations.</a:t>
            </a:r>
            <a:endParaRPr lang="en-US" sz="1200" dirty="0"/>
          </a:p>
        </p:txBody>
      </p:sp>
      <p:pic>
        <p:nvPicPr>
          <p:cNvPr id="7" name="Image 1" descr="assets/sp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60120"/>
            <a:ext cx="434340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Elsewedy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CyberVault X Presentation</dc:title>
  <dc:subject>Secure Password Manager with Local Encryption at Rest</dc:subject>
  <dc:creator>CyberVault X Team</dc:creator>
  <cp:lastModifiedBy>CyberVault X Team</cp:lastModifiedBy>
  <cp:revision>1</cp:revision>
  <dcterms:created xsi:type="dcterms:W3CDTF">2026-05-05T19:31:25Z</dcterms:created>
  <dcterms:modified xsi:type="dcterms:W3CDTF">2026-05-05T19:31:25Z</dcterms:modified>
</cp:coreProperties>
</file>