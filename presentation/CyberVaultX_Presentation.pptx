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app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749808" cy="7498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5087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02033"/>
                </a:solidFill>
              </a:rPr>
              <a:t>CyberVault X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676656" y="2212848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467"/>
                </a:solidFill>
              </a:rPr>
              <a:t>Secure Password Manager with End-to-End Encryption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676656" y="267919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490"/>
                </a:solidFill>
              </a:rPr>
              <a:t>CET334 - Cryptographic Algorithms &amp; Protocols</a:t>
            </a:r>
            <a:endParaRPr lang="en-US" sz="1050" dirty="0"/>
          </a:p>
        </p:txBody>
      </p:sp>
      <p:pic>
        <p:nvPicPr>
          <p:cNvPr id="6" name="Image 1" descr="assets/spla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777240"/>
            <a:ext cx="4343400" cy="33375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76656" y="4800600"/>
            <a:ext cx="1097280" cy="310896"/>
          </a:xfrm>
          <a:prstGeom prst="rect">
            <a:avLst/>
          </a:prstGeom>
          <a:solidFill>
            <a:srgbClr val="ECFEFF"/>
          </a:solidFill>
          <a:ln w="7620">
            <a:solidFill>
              <a:srgbClr val="BAE6FD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490"/>
                </a:solidFill>
              </a:rPr>
              <a:t>Local-first</a:t>
            </a:r>
            <a:endParaRPr lang="en-US" sz="850" dirty="0"/>
          </a:p>
        </p:txBody>
      </p:sp>
      <p:sp>
        <p:nvSpPr>
          <p:cNvPr id="8" name="Text 4"/>
          <p:cNvSpPr/>
          <p:nvPr/>
        </p:nvSpPr>
        <p:spPr>
          <a:xfrm>
            <a:off x="1920240" y="4800600"/>
            <a:ext cx="1005840" cy="310896"/>
          </a:xfrm>
          <a:prstGeom prst="rect">
            <a:avLst/>
          </a:prstGeom>
          <a:solidFill>
            <a:srgbClr val="ECFEFF"/>
          </a:solidFill>
          <a:ln w="7620">
            <a:solidFill>
              <a:srgbClr val="BAE6FD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490"/>
                </a:solidFill>
              </a:rPr>
              <a:t>AES-GCM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3063240" y="4800600"/>
            <a:ext cx="1005840" cy="310896"/>
          </a:xfrm>
          <a:prstGeom prst="rect">
            <a:avLst/>
          </a:prstGeom>
          <a:solidFill>
            <a:srgbClr val="ECFEFF"/>
          </a:solidFill>
          <a:ln w="7620">
            <a:solidFill>
              <a:srgbClr val="BAE6FD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490"/>
                </a:solidFill>
              </a:rPr>
              <a:t>PBKDF2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4206240" y="4800600"/>
            <a:ext cx="1234440" cy="310896"/>
          </a:xfrm>
          <a:prstGeom prst="rect">
            <a:avLst/>
          </a:prstGeom>
          <a:solidFill>
            <a:srgbClr val="ECFEFF"/>
          </a:solidFill>
          <a:ln w="7620">
            <a:solidFill>
              <a:srgbClr val="BAE6FD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490"/>
                </a:solidFill>
              </a:rPr>
              <a:t>AI Guardian</a:t>
            </a: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676656" y="57150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467"/>
                </a:solidFill>
              </a:rPr>
              <a:t>Professional release package: source code, tests, final report, presentation deck, and live demo plan.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E74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CyberVault X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99669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 &amp; market need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835640" y="31089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467"/>
                </a:solidFill>
              </a:rPr>
              <a:t>v5.6.0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94360" y="1417320"/>
            <a:ext cx="576072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02033"/>
                </a:solidFill>
              </a:rPr>
              <a:t>Password reuse turns one leaked account into many compromised accounts.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2743200"/>
            <a:ext cx="338328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2033"/>
                </a:solidFill>
              </a:rPr>
              <a:t>The user problem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145536"/>
            <a:ext cx="3383280" cy="51206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475467"/>
                </a:solidFill>
              </a:rPr>
              <a:t>People save many passwords, reuse weak patterns, and rarely know which accounts are risky.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640080" y="3675888"/>
            <a:ext cx="338328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2743200"/>
            <a:ext cx="338328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2033"/>
                </a:solidFill>
              </a:rPr>
              <a:t>The security problem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43400" y="3145536"/>
            <a:ext cx="3383280" cy="51206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475467"/>
                </a:solidFill>
              </a:rPr>
              <a:t>A plaintext or weak vault becomes a single point of failure. The vault must protect secrets even if the database is copied.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4343400" y="3675888"/>
            <a:ext cx="3383280" cy="0"/>
          </a:xfrm>
          <a:prstGeom prst="line">
            <a:avLst/>
          </a:prstGeom>
          <a:noFill/>
          <a:ln w="25400">
            <a:solidFill>
              <a:srgbClr val="EA58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0" y="2743200"/>
            <a:ext cx="338328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2033"/>
                </a:solidFill>
              </a:rPr>
              <a:t>The academic problem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046720" y="3145536"/>
            <a:ext cx="3383280" cy="51206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475467"/>
                </a:solidFill>
              </a:rPr>
              <a:t>The project must prove real cryptographic implementation, working code, documentation, and live demo readiness.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8046720" y="3675888"/>
            <a:ext cx="3383280" cy="0"/>
          </a:xfrm>
          <a:prstGeom prst="line">
            <a:avLst/>
          </a:prstGeom>
          <a:noFill/>
          <a:ln w="25400">
            <a:solidFill>
              <a:srgbClr val="0E74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983480"/>
            <a:ext cx="210312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3B5F"/>
                </a:solidFill>
              </a:rPr>
              <a:t>100+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77240" y="5486400"/>
            <a:ext cx="21031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475467"/>
                </a:solidFill>
              </a:rPr>
              <a:t>online accounts per user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3429000" y="4983480"/>
            <a:ext cx="210312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7490"/>
                </a:solidFill>
              </a:rPr>
              <a:t>0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3429000" y="5486400"/>
            <a:ext cx="21031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475467"/>
                </a:solidFill>
              </a:rPr>
              <a:t>cloud uploads required</a:t>
            </a:r>
            <a:endParaRPr lang="en-US" sz="880" dirty="0"/>
          </a:p>
        </p:txBody>
      </p:sp>
      <p:sp>
        <p:nvSpPr>
          <p:cNvPr id="20" name="Text 18"/>
          <p:cNvSpPr/>
          <p:nvPr/>
        </p:nvSpPr>
        <p:spPr>
          <a:xfrm>
            <a:off x="6080760" y="4983480"/>
            <a:ext cx="210312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A34A"/>
                </a:solidFill>
              </a:rPr>
              <a:t>1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080760" y="5486400"/>
            <a:ext cx="21031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475467"/>
                </a:solidFill>
              </a:rPr>
              <a:t>local encrypted vault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8732520" y="4983480"/>
            <a:ext cx="210312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A580C"/>
                </a:solidFill>
              </a:rPr>
              <a:t>20/20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732520" y="5486400"/>
            <a:ext cx="21031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475467"/>
                </a:solidFill>
              </a:rPr>
              <a:t>target presentation grade</a:t>
            </a:r>
            <a:endParaRPr lang="en-US" sz="8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E74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CyberVault X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99669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Solution overview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835640" y="31089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467"/>
                </a:solidFill>
              </a:rPr>
              <a:t>v5.6.0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94360" y="1325880"/>
            <a:ext cx="1078992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467"/>
                </a:solidFill>
              </a:rPr>
              <a:t>CyberVault X is a local encrypted password manager with security intelligence built around the vault.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057400"/>
            <a:ext cx="310896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2033"/>
                </a:solidFill>
              </a:rPr>
              <a:t>Encrypted Vault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459736"/>
            <a:ext cx="3108960" cy="6949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475467"/>
                </a:solidFill>
              </a:rPr>
              <a:t>AES-GCM encrypted credential fields stored locally in SQLite.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685800" y="3172968"/>
            <a:ext cx="3108960" cy="0"/>
          </a:xfrm>
          <a:prstGeom prst="line">
            <a:avLst/>
          </a:prstGeom>
          <a:noFill/>
          <a:ln w="25400">
            <a:solidFill>
              <a:srgbClr val="173B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2057400"/>
            <a:ext cx="310896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2033"/>
                </a:solidFill>
              </a:rPr>
              <a:t>Security Center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26280" y="2459736"/>
            <a:ext cx="3108960" cy="6949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475467"/>
                </a:solidFill>
              </a:rPr>
              <a:t>Weak, reused, breached, stale, and metadata risk analysis.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4526280" y="3172968"/>
            <a:ext cx="3108960" cy="0"/>
          </a:xfrm>
          <a:prstGeom prst="line">
            <a:avLst/>
          </a:prstGeom>
          <a:noFill/>
          <a:ln w="25400">
            <a:solidFill>
              <a:srgbClr val="EA58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66760" y="2057400"/>
            <a:ext cx="310896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2033"/>
                </a:solidFill>
              </a:rPr>
              <a:t>AI Guardian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66760" y="2459736"/>
            <a:ext cx="3108960" cy="6949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475467"/>
                </a:solidFill>
              </a:rPr>
              <a:t>Local deterministic advisor that turns findings into priority actions.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8366760" y="3172968"/>
            <a:ext cx="3108960" cy="0"/>
          </a:xfrm>
          <a:prstGeom prst="line">
            <a:avLst/>
          </a:prstGeom>
          <a:noFill/>
          <a:ln w="25400">
            <a:solidFill>
              <a:srgbClr val="0E74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4114800"/>
            <a:ext cx="310896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2033"/>
                </a:solidFill>
              </a:rPr>
              <a:t>Proof Center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4517136"/>
            <a:ext cx="3108960" cy="6949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475467"/>
                </a:solidFill>
              </a:rPr>
              <a:t>Verifies encrypted schema, audit chain, backup preview, and report package hashes.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685800" y="5230368"/>
            <a:ext cx="3108960" cy="0"/>
          </a:xfrm>
          <a:prstGeom prst="line">
            <a:avLst/>
          </a:prstGeom>
          <a:noFill/>
          <a:ln w="254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26280" y="4114800"/>
            <a:ext cx="310896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2033"/>
                </a:solidFill>
              </a:rPr>
              <a:t>Report Package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26280" y="4517136"/>
            <a:ext cx="3108960" cy="6949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475467"/>
                </a:solidFill>
              </a:rPr>
              <a:t>Privacy-safe executive report, audit log, AI summary, and manifest.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4526280" y="5230368"/>
            <a:ext cx="3108960" cy="0"/>
          </a:xfrm>
          <a:prstGeom prst="line">
            <a:avLst/>
          </a:prstGeom>
          <a:noFill/>
          <a:ln w="25400">
            <a:solidFill>
              <a:srgbClr val="173B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66760" y="4114800"/>
            <a:ext cx="310896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2033"/>
                </a:solidFill>
              </a:rPr>
              <a:t>Release Ready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366760" y="4517136"/>
            <a:ext cx="3108960" cy="6949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475467"/>
                </a:solidFill>
              </a:rPr>
              <a:t>Tests, build script, preflight checks, final report, and presentation deck.</a:t>
            </a:r>
            <a:endParaRPr lang="en-US" sz="1020" dirty="0"/>
          </a:p>
        </p:txBody>
      </p:sp>
      <p:sp>
        <p:nvSpPr>
          <p:cNvPr id="24" name="Shape 22"/>
          <p:cNvSpPr/>
          <p:nvPr/>
        </p:nvSpPr>
        <p:spPr>
          <a:xfrm>
            <a:off x="8366760" y="5230368"/>
            <a:ext cx="3108960" cy="0"/>
          </a:xfrm>
          <a:prstGeom prst="line">
            <a:avLst/>
          </a:prstGeom>
          <a:noFill/>
          <a:ln w="25400">
            <a:solidFill>
              <a:srgbClr val="EA580C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E74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CyberVault X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99669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835640" y="31089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467"/>
                </a:solidFill>
              </a:rPr>
              <a:t>v5.6.0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514600" y="2770632"/>
            <a:ext cx="960120" cy="0"/>
          </a:xfrm>
          <a:prstGeom prst="line">
            <a:avLst/>
          </a:prstGeom>
          <a:noFill/>
          <a:ln w="19050">
            <a:solidFill>
              <a:srgbClr val="344054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709160" y="2770632"/>
            <a:ext cx="960120" cy="0"/>
          </a:xfrm>
          <a:prstGeom prst="line">
            <a:avLst/>
          </a:prstGeom>
          <a:noFill/>
          <a:ln w="19050">
            <a:solidFill>
              <a:srgbClr val="34405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903720" y="2770632"/>
            <a:ext cx="960120" cy="0"/>
          </a:xfrm>
          <a:prstGeom prst="line">
            <a:avLst/>
          </a:prstGeom>
          <a:noFill/>
          <a:ln w="19050">
            <a:solidFill>
              <a:srgbClr val="34405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9098280" y="2770632"/>
            <a:ext cx="960120" cy="0"/>
          </a:xfrm>
          <a:prstGeom prst="line">
            <a:avLst/>
          </a:prstGeom>
          <a:noFill/>
          <a:ln w="19050">
            <a:solidFill>
              <a:srgbClr val="344054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94360" y="2029968"/>
            <a:ext cx="1600200" cy="384048"/>
          </a:xfrm>
          <a:prstGeom prst="rect">
            <a:avLst/>
          </a:prstGeom>
          <a:solidFill>
            <a:srgbClr val="F8FAFC"/>
          </a:solidFill>
          <a:ln w="13970">
            <a:solidFill>
              <a:srgbClr val="0E7490"/>
            </a:solidFill>
          </a:ln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033"/>
                </a:solidFill>
              </a:rPr>
              <a:t>UI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" y="2542032"/>
            <a:ext cx="1600200" cy="987552"/>
          </a:xfrm>
          <a:prstGeom prst="rect">
            <a:avLst/>
          </a:prstGeom>
          <a:solidFill>
            <a:srgbClr val="FFFFFF"/>
          </a:solidFill>
          <a:ln w="10160">
            <a:solidFill>
              <a:srgbClr val="D0D5D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75467"/>
                </a:solidFill>
              </a:rPr>
              <a:t>Tkinter screens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467"/>
                </a:solidFill>
              </a:rPr>
              <a:t>Dialogs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467"/>
                </a:solidFill>
              </a:rPr>
              <a:t>Demo flow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88920" y="2029968"/>
            <a:ext cx="1600200" cy="384048"/>
          </a:xfrm>
          <a:prstGeom prst="rect">
            <a:avLst/>
          </a:prstGeom>
          <a:solidFill>
            <a:srgbClr val="F8FAFC"/>
          </a:solidFill>
          <a:ln w="13970">
            <a:solidFill>
              <a:srgbClr val="173B5F"/>
            </a:solidFill>
          </a:ln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033"/>
                </a:solidFill>
              </a:rPr>
              <a:t>Manager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788920" y="2542032"/>
            <a:ext cx="1600200" cy="987552"/>
          </a:xfrm>
          <a:prstGeom prst="rect">
            <a:avLst/>
          </a:prstGeom>
          <a:solidFill>
            <a:srgbClr val="FFFFFF"/>
          </a:solidFill>
          <a:ln w="10160">
            <a:solidFill>
              <a:srgbClr val="D0D5D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75467"/>
                </a:solidFill>
              </a:rPr>
              <a:t>Vault actions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467"/>
                </a:solidFill>
              </a:rPr>
              <a:t>Settings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467"/>
                </a:solidFill>
              </a:rPr>
              <a:t>Auth state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983480" y="2029968"/>
            <a:ext cx="1600200" cy="384048"/>
          </a:xfrm>
          <a:prstGeom prst="rect">
            <a:avLst/>
          </a:prstGeom>
          <a:solidFill>
            <a:srgbClr val="F8FAFC"/>
          </a:solidFill>
          <a:ln w="13970">
            <a:solidFill>
              <a:srgbClr val="EA580C"/>
            </a:solidFill>
          </a:ln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033"/>
                </a:solidFill>
              </a:rPr>
              <a:t>Services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83480" y="2542032"/>
            <a:ext cx="1600200" cy="987552"/>
          </a:xfrm>
          <a:prstGeom prst="rect">
            <a:avLst/>
          </a:prstGeom>
          <a:solidFill>
            <a:srgbClr val="FFFFFF"/>
          </a:solidFill>
          <a:ln w="10160">
            <a:solidFill>
              <a:srgbClr val="D0D5D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75467"/>
                </a:solidFill>
              </a:rPr>
              <a:t>Backup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467"/>
                </a:solidFill>
              </a:rPr>
              <a:t>Reports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467"/>
                </a:solidFill>
              </a:rPr>
              <a:t>AI Guardian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467"/>
                </a:solidFill>
              </a:rPr>
              <a:t>Proof checks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178040" y="2029968"/>
            <a:ext cx="1600200" cy="384048"/>
          </a:xfrm>
          <a:prstGeom prst="rect">
            <a:avLst/>
          </a:prstGeom>
          <a:solidFill>
            <a:srgbClr val="F8FAFC"/>
          </a:solidFill>
          <a:ln w="13970">
            <a:solidFill>
              <a:srgbClr val="16A34A"/>
            </a:solidFill>
          </a:ln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033"/>
                </a:solidFill>
              </a:rPr>
              <a:t>Crypto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178040" y="2542032"/>
            <a:ext cx="1600200" cy="987552"/>
          </a:xfrm>
          <a:prstGeom prst="rect">
            <a:avLst/>
          </a:prstGeom>
          <a:solidFill>
            <a:srgbClr val="FFFFFF"/>
          </a:solidFill>
          <a:ln w="10160">
            <a:solidFill>
              <a:srgbClr val="D0D5D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75467"/>
                </a:solidFill>
              </a:rPr>
              <a:t>AES-GCM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467"/>
                </a:solidFill>
              </a:rPr>
              <a:t>PBKDF2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467"/>
                </a:solidFill>
              </a:rPr>
              <a:t>SHA hashes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372600" y="2029968"/>
            <a:ext cx="1600200" cy="384048"/>
          </a:xfrm>
          <a:prstGeom prst="rect">
            <a:avLst/>
          </a:prstGeom>
          <a:solidFill>
            <a:srgbClr val="F8FAFC"/>
          </a:solidFill>
          <a:ln w="13970">
            <a:solidFill>
              <a:srgbClr val="102033"/>
            </a:solidFill>
          </a:ln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033"/>
                </a:solidFill>
              </a:rPr>
              <a:t>SQLite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372600" y="2542032"/>
            <a:ext cx="1600200" cy="987552"/>
          </a:xfrm>
          <a:prstGeom prst="rect">
            <a:avLst/>
          </a:prstGeom>
          <a:solidFill>
            <a:srgbClr val="FFFFFF"/>
          </a:solidFill>
          <a:ln w="10160">
            <a:solidFill>
              <a:srgbClr val="D0D5D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75467"/>
                </a:solidFill>
              </a:rPr>
              <a:t>Encrypted rows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467"/>
                </a:solidFill>
              </a:rPr>
              <a:t>History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467"/>
                </a:solidFill>
              </a:rPr>
              <a:t>Audit log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77240" y="457200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33272" y="4562856"/>
            <a:ext cx="77724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467"/>
                </a:solidFill>
              </a:rPr>
              <a:t>Service separation keeps crypto/database logic reusable if UI is migrated to PyQt5.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77240" y="49377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✓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33272" y="4928616"/>
            <a:ext cx="77724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467"/>
                </a:solidFill>
              </a:rPr>
              <a:t>All vault analysis is local; no raw secrets are sent to external services.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530352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✓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33272" y="5294376"/>
            <a:ext cx="77724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467"/>
                </a:solidFill>
              </a:rPr>
              <a:t>Release preflight validates structure, docs, dependency readiness, and breach-list format.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E74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CyberVault X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99669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Cryptographic workflow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835640" y="31089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467"/>
                </a:solidFill>
              </a:rPr>
              <a:t>v5.6.0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194560" y="2926080"/>
            <a:ext cx="1097280" cy="0"/>
          </a:xfrm>
          <a:prstGeom prst="line">
            <a:avLst/>
          </a:prstGeom>
          <a:noFill/>
          <a:ln w="17780">
            <a:solidFill>
              <a:srgbClr val="344054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572000" y="2926080"/>
            <a:ext cx="1097280" cy="0"/>
          </a:xfrm>
          <a:prstGeom prst="line">
            <a:avLst/>
          </a:prstGeom>
          <a:noFill/>
          <a:ln w="17780">
            <a:solidFill>
              <a:srgbClr val="34405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949440" y="2926080"/>
            <a:ext cx="1097280" cy="0"/>
          </a:xfrm>
          <a:prstGeom prst="line">
            <a:avLst/>
          </a:prstGeom>
          <a:noFill/>
          <a:ln w="17780">
            <a:solidFill>
              <a:srgbClr val="34405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9326880" y="2926080"/>
            <a:ext cx="914400" cy="0"/>
          </a:xfrm>
          <a:prstGeom prst="line">
            <a:avLst/>
          </a:prstGeom>
          <a:noFill/>
          <a:ln w="17780">
            <a:solidFill>
              <a:srgbClr val="344054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640080" y="2331720"/>
            <a:ext cx="1600200" cy="32004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033"/>
                </a:solidFill>
              </a:rPr>
              <a:t>Master password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2788920"/>
            <a:ext cx="160020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D0D5DD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475467"/>
                </a:solidFill>
              </a:rPr>
              <a:t>Never stored directly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3017520" y="2331720"/>
            <a:ext cx="1600200" cy="32004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033"/>
                </a:solidFill>
              </a:rPr>
              <a:t>PBKDF2-SHA256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017520" y="2788920"/>
            <a:ext cx="160020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D0D5DD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475467"/>
                </a:solidFill>
              </a:rPr>
              <a:t>Derives vault key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5394960" y="2331720"/>
            <a:ext cx="1600200" cy="32004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033"/>
                </a:solidFill>
              </a:rPr>
              <a:t>AES-GCM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394960" y="2788920"/>
            <a:ext cx="160020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D0D5DD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475467"/>
                </a:solidFill>
              </a:rPr>
              <a:t>Encrypts fields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7772400" y="2331720"/>
            <a:ext cx="1600200" cy="32004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033"/>
                </a:solidFill>
              </a:rPr>
              <a:t>AAD binding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772400" y="2788920"/>
            <a:ext cx="160020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D0D5DD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475467"/>
                </a:solidFill>
              </a:rPr>
              <a:t>Credential + field context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10058400" y="2331720"/>
            <a:ext cx="1600200" cy="32004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033"/>
                </a:solidFill>
              </a:rPr>
              <a:t>SQLite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058400" y="2788920"/>
            <a:ext cx="160020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D0D5DD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475467"/>
                </a:solidFill>
              </a:rPr>
              <a:t>Nonce/cipher pairs</a:t>
            </a:r>
            <a:endParaRPr lang="en-US" sz="880" dirty="0"/>
          </a:p>
        </p:txBody>
      </p:sp>
      <p:sp>
        <p:nvSpPr>
          <p:cNvPr id="20" name="Text 18"/>
          <p:cNvSpPr/>
          <p:nvPr/>
        </p:nvSpPr>
        <p:spPr>
          <a:xfrm>
            <a:off x="822960" y="4617720"/>
            <a:ext cx="475488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2033"/>
                </a:solidFill>
              </a:rPr>
              <a:t>Why this matters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2960" y="5020056"/>
            <a:ext cx="4754880" cy="5577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475467"/>
                </a:solidFill>
              </a:rPr>
              <a:t>The database can be copied, but encrypted credential fields remain protected without the master password. AES-GCM also rejects tampered ciphertext.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822960" y="5596128"/>
            <a:ext cx="4754880" cy="0"/>
          </a:xfrm>
          <a:prstGeom prst="line">
            <a:avLst/>
          </a:prstGeom>
          <a:noFill/>
          <a:ln w="254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4617720"/>
            <a:ext cx="475488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2033"/>
                </a:solidFill>
              </a:rPr>
              <a:t>Demo proof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92240" y="5020056"/>
            <a:ext cx="4754880" cy="5577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475467"/>
                </a:solidFill>
              </a:rPr>
              <a:t>Security Proof Center checks encrypted schema, AAD migration status, audit-chain validity, and report integrity.</a:t>
            </a:r>
            <a:endParaRPr lang="en-US" sz="1020" dirty="0"/>
          </a:p>
        </p:txBody>
      </p:sp>
      <p:sp>
        <p:nvSpPr>
          <p:cNvPr id="25" name="Shape 23"/>
          <p:cNvSpPr/>
          <p:nvPr/>
        </p:nvSpPr>
        <p:spPr>
          <a:xfrm>
            <a:off x="6492240" y="5596128"/>
            <a:ext cx="4754880" cy="0"/>
          </a:xfrm>
          <a:prstGeom prst="line">
            <a:avLst/>
          </a:prstGeom>
          <a:noFill/>
          <a:ln w="25400">
            <a:solidFill>
              <a:srgbClr val="173B5F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E74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CyberVault X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99669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requirement coverage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835640" y="31089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467"/>
                </a:solidFill>
              </a:rPr>
              <a:t>v5.6.0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" y="1417320"/>
            <a:ext cx="283464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02033"/>
                </a:solidFill>
              </a:rPr>
              <a:t>Encrypted Password Vault</a:t>
            </a:r>
            <a:endParaRPr lang="en-US" sz="1220" dirty="0"/>
          </a:p>
        </p:txBody>
      </p:sp>
      <p:sp>
        <p:nvSpPr>
          <p:cNvPr id="7" name="Text 5"/>
          <p:cNvSpPr/>
          <p:nvPr/>
        </p:nvSpPr>
        <p:spPr>
          <a:xfrm>
            <a:off x="3886200" y="1435608"/>
            <a:ext cx="722376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475467"/>
                </a:solidFill>
              </a:rPr>
              <a:t>AES-GCM field encryption, local SQLite, encrypted history</a:t>
            </a:r>
            <a:endParaRPr lang="en-US" sz="1020" dirty="0"/>
          </a:p>
        </p:txBody>
      </p:sp>
      <p:sp>
        <p:nvSpPr>
          <p:cNvPr id="8" name="Shape 6"/>
          <p:cNvSpPr/>
          <p:nvPr/>
        </p:nvSpPr>
        <p:spPr>
          <a:xfrm>
            <a:off x="731520" y="1874520"/>
            <a:ext cx="10607040" cy="0"/>
          </a:xfrm>
          <a:prstGeom prst="line">
            <a:avLst/>
          </a:prstGeom>
          <a:noFill/>
          <a:ln w="8255">
            <a:solidFill>
              <a:srgbClr val="D0D5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130552"/>
            <a:ext cx="283464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02033"/>
                </a:solidFill>
              </a:rPr>
              <a:t>Master Password</a:t>
            </a:r>
            <a:endParaRPr lang="en-US" sz="1220" dirty="0"/>
          </a:p>
        </p:txBody>
      </p:sp>
      <p:sp>
        <p:nvSpPr>
          <p:cNvPr id="10" name="Text 8"/>
          <p:cNvSpPr/>
          <p:nvPr/>
        </p:nvSpPr>
        <p:spPr>
          <a:xfrm>
            <a:off x="3886200" y="2148840"/>
            <a:ext cx="722376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475467"/>
                </a:solidFill>
              </a:rPr>
              <a:t>PBKDF2-SHA256, policy validation, unlock throttling</a:t>
            </a:r>
            <a:endParaRPr lang="en-US" sz="1020" dirty="0"/>
          </a:p>
        </p:txBody>
      </p:sp>
      <p:sp>
        <p:nvSpPr>
          <p:cNvPr id="11" name="Shape 9"/>
          <p:cNvSpPr/>
          <p:nvPr/>
        </p:nvSpPr>
        <p:spPr>
          <a:xfrm>
            <a:off x="731520" y="2587752"/>
            <a:ext cx="10607040" cy="0"/>
          </a:xfrm>
          <a:prstGeom prst="line">
            <a:avLst/>
          </a:prstGeom>
          <a:noFill/>
          <a:ln w="8255">
            <a:solidFill>
              <a:srgbClr val="D0D5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2843784"/>
            <a:ext cx="283464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02033"/>
                </a:solidFill>
              </a:rPr>
              <a:t>Generator</a:t>
            </a:r>
            <a:endParaRPr lang="en-US" sz="1220" dirty="0"/>
          </a:p>
        </p:txBody>
      </p:sp>
      <p:sp>
        <p:nvSpPr>
          <p:cNvPr id="13" name="Text 11"/>
          <p:cNvSpPr/>
          <p:nvPr/>
        </p:nvSpPr>
        <p:spPr>
          <a:xfrm>
            <a:off x="3886200" y="2862072"/>
            <a:ext cx="722376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475467"/>
                </a:solidFill>
              </a:rPr>
              <a:t>Configurable length/classes, entropy feedback, presets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731520" y="3300984"/>
            <a:ext cx="10607040" cy="0"/>
          </a:xfrm>
          <a:prstGeom prst="line">
            <a:avLst/>
          </a:prstGeom>
          <a:noFill/>
          <a:ln w="8255">
            <a:solidFill>
              <a:srgbClr val="D0D5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557016"/>
            <a:ext cx="283464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02033"/>
                </a:solidFill>
              </a:rPr>
              <a:t>Breach Detection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3886200" y="3575304"/>
            <a:ext cx="722376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475467"/>
                </a:solidFill>
              </a:rPr>
              <a:t>Offline SHA1 dataset with local lookup</a:t>
            </a:r>
            <a:endParaRPr lang="en-US" sz="1020" dirty="0"/>
          </a:p>
        </p:txBody>
      </p:sp>
      <p:sp>
        <p:nvSpPr>
          <p:cNvPr id="17" name="Shape 15"/>
          <p:cNvSpPr/>
          <p:nvPr/>
        </p:nvSpPr>
        <p:spPr>
          <a:xfrm>
            <a:off x="731520" y="4014216"/>
            <a:ext cx="10607040" cy="0"/>
          </a:xfrm>
          <a:prstGeom prst="line">
            <a:avLst/>
          </a:prstGeom>
          <a:noFill/>
          <a:ln w="8255">
            <a:solidFill>
              <a:srgbClr val="D0D5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4270248"/>
            <a:ext cx="283464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02033"/>
                </a:solidFill>
              </a:rPr>
              <a:t>Strength Analysis</a:t>
            </a:r>
            <a:endParaRPr lang="en-US" sz="1220" dirty="0"/>
          </a:p>
        </p:txBody>
      </p:sp>
      <p:sp>
        <p:nvSpPr>
          <p:cNvPr id="19" name="Text 17"/>
          <p:cNvSpPr/>
          <p:nvPr/>
        </p:nvSpPr>
        <p:spPr>
          <a:xfrm>
            <a:off x="3886200" y="4288536"/>
            <a:ext cx="722376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475467"/>
                </a:solidFill>
              </a:rPr>
              <a:t>Weak/reused/breached/stale score and recommendations</a:t>
            </a:r>
            <a:endParaRPr lang="en-US" sz="1020" dirty="0"/>
          </a:p>
        </p:txBody>
      </p:sp>
      <p:sp>
        <p:nvSpPr>
          <p:cNvPr id="20" name="Shape 18"/>
          <p:cNvSpPr/>
          <p:nvPr/>
        </p:nvSpPr>
        <p:spPr>
          <a:xfrm>
            <a:off x="731520" y="4727448"/>
            <a:ext cx="10607040" cy="0"/>
          </a:xfrm>
          <a:prstGeom prst="line">
            <a:avLst/>
          </a:prstGeom>
          <a:noFill/>
          <a:ln w="8255">
            <a:solidFill>
              <a:srgbClr val="D0D5DD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E74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CyberVault X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99669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Product-grade upgrades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835640" y="31089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467"/>
                </a:solidFill>
              </a:rPr>
              <a:t>v5.6.0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85800" y="1554480"/>
            <a:ext cx="324612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2033"/>
                </a:solidFill>
              </a:rPr>
              <a:t>AI Guardian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956816"/>
            <a:ext cx="3246120" cy="74066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475467"/>
                </a:solidFill>
              </a:rPr>
              <a:t>Local advisor: priority queue, attacker view, fix path, business impact, and projected score gain.</a:t>
            </a:r>
            <a:endParaRPr lang="en-US" sz="1020" dirty="0"/>
          </a:p>
        </p:txBody>
      </p:sp>
      <p:sp>
        <p:nvSpPr>
          <p:cNvPr id="8" name="Shape 6"/>
          <p:cNvSpPr/>
          <p:nvPr/>
        </p:nvSpPr>
        <p:spPr>
          <a:xfrm>
            <a:off x="685800" y="2715768"/>
            <a:ext cx="3246120" cy="0"/>
          </a:xfrm>
          <a:prstGeom prst="line">
            <a:avLst/>
          </a:prstGeom>
          <a:noFill/>
          <a:ln w="25400">
            <a:solidFill>
              <a:srgbClr val="0E74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0560" y="1554480"/>
            <a:ext cx="324612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2033"/>
                </a:solidFill>
              </a:rPr>
              <a:t>Security Proof Center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80560" y="1956816"/>
            <a:ext cx="3246120" cy="74066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475467"/>
                </a:solidFill>
              </a:rPr>
              <a:t>One place to prove crypto posture, audit-chain validity, backup preview, and report verification.</a:t>
            </a:r>
            <a:endParaRPr lang="en-US" sz="1020" dirty="0"/>
          </a:p>
        </p:txBody>
      </p:sp>
      <p:sp>
        <p:nvSpPr>
          <p:cNvPr id="11" name="Shape 9"/>
          <p:cNvSpPr/>
          <p:nvPr/>
        </p:nvSpPr>
        <p:spPr>
          <a:xfrm>
            <a:off x="4480560" y="2715768"/>
            <a:ext cx="3246120" cy="0"/>
          </a:xfrm>
          <a:prstGeom prst="line">
            <a:avLst/>
          </a:prstGeom>
          <a:noFill/>
          <a:ln w="25400">
            <a:solidFill>
              <a:srgbClr val="16A3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75320" y="1554480"/>
            <a:ext cx="324612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2033"/>
                </a:solidFill>
              </a:rPr>
              <a:t>Tamper evidence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75320" y="1956816"/>
            <a:ext cx="3246120" cy="74066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475467"/>
                </a:solidFill>
              </a:rPr>
              <a:t>Audit events use previous-hash and event-hash linkage to expose log modification.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8275320" y="2715768"/>
            <a:ext cx="3246120" cy="0"/>
          </a:xfrm>
          <a:prstGeom prst="line">
            <a:avLst/>
          </a:prstGeom>
          <a:noFill/>
          <a:ln w="25400">
            <a:solidFill>
              <a:srgbClr val="EA580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931920"/>
            <a:ext cx="324612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2033"/>
                </a:solidFill>
              </a:rPr>
              <a:t>Encrypted backup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5800" y="4334256"/>
            <a:ext cx="3246120" cy="74066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475467"/>
                </a:solidFill>
              </a:rPr>
              <a:t>Preview restore impact, handle duplicates, rollback on failure, and keep backup metadata versioned.</a:t>
            </a:r>
            <a:endParaRPr lang="en-US" sz="1020" dirty="0"/>
          </a:p>
        </p:txBody>
      </p:sp>
      <p:sp>
        <p:nvSpPr>
          <p:cNvPr id="17" name="Shape 15"/>
          <p:cNvSpPr/>
          <p:nvPr/>
        </p:nvSpPr>
        <p:spPr>
          <a:xfrm>
            <a:off x="685800" y="5093208"/>
            <a:ext cx="3246120" cy="0"/>
          </a:xfrm>
          <a:prstGeom prst="line">
            <a:avLst/>
          </a:prstGeom>
          <a:noFill/>
          <a:ln w="25400">
            <a:solidFill>
              <a:srgbClr val="173B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3931920"/>
            <a:ext cx="324612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2033"/>
                </a:solidFill>
              </a:rPr>
              <a:t>Report package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480560" y="4334256"/>
            <a:ext cx="3246120" cy="74066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475467"/>
                </a:solidFill>
              </a:rPr>
              <a:t>Exports HTML reports, AI summary, manifest hashes, and local signature verification.</a:t>
            </a:r>
            <a:endParaRPr lang="en-US" sz="1020" dirty="0"/>
          </a:p>
        </p:txBody>
      </p:sp>
      <p:sp>
        <p:nvSpPr>
          <p:cNvPr id="20" name="Shape 18"/>
          <p:cNvSpPr/>
          <p:nvPr/>
        </p:nvSpPr>
        <p:spPr>
          <a:xfrm>
            <a:off x="4480560" y="5093208"/>
            <a:ext cx="324612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75320" y="3931920"/>
            <a:ext cx="324612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2033"/>
                </a:solidFill>
              </a:rPr>
              <a:t>Release preflight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75320" y="4334256"/>
            <a:ext cx="3246120" cy="74066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475467"/>
                </a:solidFill>
              </a:rPr>
              <a:t>Validates docs, tests, structure, dataset format, and presentation assets before packaging.</a:t>
            </a:r>
            <a:endParaRPr lang="en-US" sz="1020" dirty="0"/>
          </a:p>
        </p:txBody>
      </p:sp>
      <p:sp>
        <p:nvSpPr>
          <p:cNvPr id="23" name="Shape 21"/>
          <p:cNvSpPr/>
          <p:nvPr/>
        </p:nvSpPr>
        <p:spPr>
          <a:xfrm>
            <a:off x="8275320" y="5093208"/>
            <a:ext cx="3246120" cy="0"/>
          </a:xfrm>
          <a:prstGeom prst="line">
            <a:avLst/>
          </a:prstGeom>
          <a:noFill/>
          <a:ln w="25400">
            <a:solidFill>
              <a:srgbClr val="0E749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E74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CyberVault X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99669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Testing &amp; validation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835640" y="31089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467"/>
                </a:solidFill>
              </a:rPr>
              <a:t>v5.6.0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685800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33"/>
                </a:solidFill>
              </a:rPr>
              <a:t>Testing proves that the app is more than a UI demo.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05740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✓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70432" y="2048256"/>
            <a:ext cx="57150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467"/>
                </a:solidFill>
              </a:rPr>
              <a:t>AES-GCM backup roundtrip and wrong-passphrase failure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14400" y="24688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70432" y="2459736"/>
            <a:ext cx="57150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467"/>
                </a:solidFill>
              </a:rPr>
              <a:t>AAD blocks encrypted-field swaps between records/fields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14400" y="28803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170432" y="2871216"/>
            <a:ext cx="57150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467"/>
                </a:solidFill>
              </a:rPr>
              <a:t>Backup import rolls back if validation fails mid-transaction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14400" y="32918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70432" y="3282696"/>
            <a:ext cx="57150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467"/>
                </a:solidFill>
              </a:rPr>
              <a:t>Report package verifier detects tampered artifacts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914400" y="370332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✓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70432" y="3694176"/>
            <a:ext cx="57150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467"/>
                </a:solidFill>
              </a:rPr>
              <a:t>AI Guardian payloads are redacted and privacy-safe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14400" y="411480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70432" y="4105656"/>
            <a:ext cx="57150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467"/>
                </a:solidFill>
              </a:rPr>
              <a:t>Release preflight checks final submission assets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680960" y="20299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2033"/>
                </a:solidFill>
              </a:rPr>
              <a:t>Commands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680960" y="2423160"/>
            <a:ext cx="3383280" cy="1188720"/>
          </a:xfrm>
          <a:prstGeom prst="rect">
            <a:avLst/>
          </a:prstGeom>
          <a:solidFill>
            <a:srgbClr val="F2F4F7"/>
          </a:solidFill>
          <a:ln w="10160">
            <a:solidFill>
              <a:srgbClr val="D0D5DD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475467"/>
                </a:solidFill>
              </a:rPr>
              <a:t>python -m pytest -q tests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467"/>
                </a:solidFill>
              </a:rPr>
              <a:t>python tools/release_preflight.py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467"/>
                </a:solidFill>
              </a:rPr>
              <a:t>build_release.bat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001000" y="4343400"/>
            <a:ext cx="237744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A34A"/>
                </a:solidFill>
              </a:rPr>
              <a:t>pass/fail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001000" y="4846320"/>
            <a:ext cx="23774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475467"/>
                </a:solidFill>
              </a:rPr>
              <a:t>automated proof</a:t>
            </a:r>
            <a:endParaRPr lang="en-US" sz="8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E74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CyberVault X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99669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Live demo path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835640" y="31089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467"/>
                </a:solidFill>
              </a:rPr>
              <a:t>v5.6.0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" y="1417320"/>
            <a:ext cx="475488" cy="384048"/>
          </a:xfrm>
          <a:prstGeom prst="rect">
            <a:avLst/>
          </a:prstGeom>
          <a:solidFill>
            <a:srgbClr val="0E7490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81328" y="1453896"/>
            <a:ext cx="41605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</a:rPr>
              <a:t>Create or unlock vault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167128"/>
            <a:ext cx="475488" cy="384048"/>
          </a:xfrm>
          <a:prstGeom prst="rect">
            <a:avLst/>
          </a:prstGeom>
          <a:solidFill>
            <a:srgbClr val="0E7490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481328" y="2203704"/>
            <a:ext cx="41605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</a:rPr>
              <a:t>Load Professional Demo Vault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2916936"/>
            <a:ext cx="475488" cy="384048"/>
          </a:xfrm>
          <a:prstGeom prst="rect">
            <a:avLst/>
          </a:prstGeom>
          <a:solidFill>
            <a:srgbClr val="0E7490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481328" y="2953512"/>
            <a:ext cx="41605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</a:rPr>
              <a:t>Dashboard health score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3666744"/>
            <a:ext cx="475488" cy="384048"/>
          </a:xfrm>
          <a:prstGeom prst="rect">
            <a:avLst/>
          </a:prstGeom>
          <a:solidFill>
            <a:srgbClr val="0E7490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81328" y="3703320"/>
            <a:ext cx="41605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</a:rPr>
              <a:t>Security Center findings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4416552"/>
            <a:ext cx="475488" cy="384048"/>
          </a:xfrm>
          <a:prstGeom prst="rect">
            <a:avLst/>
          </a:prstGeom>
          <a:solidFill>
            <a:srgbClr val="0E7490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05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81328" y="4453128"/>
            <a:ext cx="41605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</a:rPr>
              <a:t>Generate AI Guardian plan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1417320"/>
            <a:ext cx="475488" cy="384048"/>
          </a:xfrm>
          <a:prstGeom prst="rect">
            <a:avLst/>
          </a:prstGeom>
          <a:solidFill>
            <a:srgbClr val="173B5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06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967728" y="1453896"/>
            <a:ext cx="41605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</a:rPr>
              <a:t>Generate replacement password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09360" y="2167128"/>
            <a:ext cx="475488" cy="384048"/>
          </a:xfrm>
          <a:prstGeom prst="rect">
            <a:avLst/>
          </a:prstGeom>
          <a:solidFill>
            <a:srgbClr val="173B5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07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967728" y="2203704"/>
            <a:ext cx="41605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</a:rPr>
              <a:t>Run Security Proof Center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309360" y="2916936"/>
            <a:ext cx="475488" cy="384048"/>
          </a:xfrm>
          <a:prstGeom prst="rect">
            <a:avLst/>
          </a:prstGeom>
          <a:solidFill>
            <a:srgbClr val="173B5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08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967728" y="2953512"/>
            <a:ext cx="41605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</a:rPr>
              <a:t>Export and verify report package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09360" y="3666744"/>
            <a:ext cx="475488" cy="384048"/>
          </a:xfrm>
          <a:prstGeom prst="rect">
            <a:avLst/>
          </a:prstGeom>
          <a:solidFill>
            <a:srgbClr val="173B5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09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967728" y="3703320"/>
            <a:ext cx="41605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</a:rPr>
              <a:t>Encrypted backup preview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309360" y="4416552"/>
            <a:ext cx="475488" cy="384048"/>
          </a:xfrm>
          <a:prstGeom prst="rect">
            <a:avLst/>
          </a:prstGeom>
          <a:solidFill>
            <a:srgbClr val="173B5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967728" y="4453128"/>
            <a:ext cx="41605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</a:rPr>
              <a:t>Panic lock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5715000"/>
            <a:ext cx="104241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5467"/>
                </a:solidFill>
              </a:rPr>
              <a:t>Goal: show encryption, analysis, proof, reports, and safe failure handling in one smooth story.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E74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CyberVault X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99669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Honest limitations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835640" y="31089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467"/>
                </a:solidFill>
              </a:rPr>
              <a:t>v5.6.0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" y="1508760"/>
            <a:ext cx="324612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2033"/>
                </a:solidFill>
              </a:rPr>
              <a:t>Breach database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911096"/>
            <a:ext cx="3246120" cy="6949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475467"/>
                </a:solidFill>
              </a:rPr>
              <a:t>Bundled file is a small offline demo subset. Future: custom import wizard or HIBP k-anonymity.</a:t>
            </a:r>
            <a:endParaRPr lang="en-US" sz="1020" dirty="0"/>
          </a:p>
        </p:txBody>
      </p:sp>
      <p:sp>
        <p:nvSpPr>
          <p:cNvPr id="8" name="Shape 6"/>
          <p:cNvSpPr/>
          <p:nvPr/>
        </p:nvSpPr>
        <p:spPr>
          <a:xfrm>
            <a:off x="731520" y="2624328"/>
            <a:ext cx="3246120" cy="0"/>
          </a:xfrm>
          <a:prstGeom prst="line">
            <a:avLst/>
          </a:prstGeom>
          <a:noFill/>
          <a:ln w="25400">
            <a:solidFill>
              <a:srgbClr val="EA580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0560" y="1508760"/>
            <a:ext cx="324612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2033"/>
                </a:solidFill>
              </a:rPr>
              <a:t>Runtime memory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80560" y="1911096"/>
            <a:ext cx="3246120" cy="6949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475467"/>
                </a:solidFill>
              </a:rPr>
              <a:t>Python cannot fully guarantee string zeroization. Auto-lock and clipboard clearing reduce exposure.</a:t>
            </a:r>
            <a:endParaRPr lang="en-US" sz="1020" dirty="0"/>
          </a:p>
        </p:txBody>
      </p:sp>
      <p:sp>
        <p:nvSpPr>
          <p:cNvPr id="11" name="Shape 9"/>
          <p:cNvSpPr/>
          <p:nvPr/>
        </p:nvSpPr>
        <p:spPr>
          <a:xfrm>
            <a:off x="4480560" y="2624328"/>
            <a:ext cx="324612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1508760"/>
            <a:ext cx="324612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2033"/>
                </a:solidFill>
              </a:rPr>
              <a:t>Report signing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0" y="1911096"/>
            <a:ext cx="3246120" cy="6949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475467"/>
                </a:solidFill>
              </a:rPr>
              <a:t>HMAC proves local integrity. Future: Ed25519 public verification key for independent proof.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8229600" y="2624328"/>
            <a:ext cx="3246120" cy="0"/>
          </a:xfrm>
          <a:prstGeom prst="line">
            <a:avLst/>
          </a:prstGeom>
          <a:noFill/>
          <a:ln w="25400">
            <a:solidFill>
              <a:srgbClr val="173B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886200"/>
            <a:ext cx="324612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2033"/>
                </a:solidFill>
              </a:rPr>
              <a:t>GUI toolkit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4288536"/>
            <a:ext cx="3246120" cy="6949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475467"/>
                </a:solidFill>
              </a:rPr>
              <a:t>Tkinter improves portability. Service layers allow future PyQt5 migration if required.</a:t>
            </a:r>
            <a:endParaRPr lang="en-US" sz="1020" dirty="0"/>
          </a:p>
        </p:txBody>
      </p:sp>
      <p:sp>
        <p:nvSpPr>
          <p:cNvPr id="17" name="Shape 15"/>
          <p:cNvSpPr/>
          <p:nvPr/>
        </p:nvSpPr>
        <p:spPr>
          <a:xfrm>
            <a:off x="731520" y="5001768"/>
            <a:ext cx="3246120" cy="0"/>
          </a:xfrm>
          <a:prstGeom prst="line">
            <a:avLst/>
          </a:prstGeom>
          <a:noFill/>
          <a:ln w="25400">
            <a:solidFill>
              <a:srgbClr val="0E749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3886200"/>
            <a:ext cx="324612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2033"/>
                </a:solidFill>
              </a:rPr>
              <a:t>Commercial readiness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480560" y="4288536"/>
            <a:ext cx="3246120" cy="6949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475467"/>
                </a:solidFill>
              </a:rPr>
              <a:t>Academic prototype. Commercial version needs external audit, installer signing, and secure-memory hardening.</a:t>
            </a:r>
            <a:endParaRPr lang="en-US" sz="1020" dirty="0"/>
          </a:p>
        </p:txBody>
      </p:sp>
      <p:sp>
        <p:nvSpPr>
          <p:cNvPr id="20" name="Shape 18"/>
          <p:cNvSpPr/>
          <p:nvPr/>
        </p:nvSpPr>
        <p:spPr>
          <a:xfrm>
            <a:off x="4480560" y="5001768"/>
            <a:ext cx="3246120" cy="0"/>
          </a:xfrm>
          <a:prstGeom prst="line">
            <a:avLst/>
          </a:prstGeom>
          <a:noFill/>
          <a:ln w="25400">
            <a:solidFill>
              <a:srgbClr val="16A3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0" y="3886200"/>
            <a:ext cx="324612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2033"/>
                </a:solidFill>
              </a:rPr>
              <a:t>Screenshots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0" y="4288536"/>
            <a:ext cx="3246120" cy="6949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475467"/>
                </a:solidFill>
              </a:rPr>
              <a:t>Real screenshots must be captured on the Windows demo machine after building the EXE.</a:t>
            </a:r>
            <a:endParaRPr lang="en-US" sz="1020" dirty="0"/>
          </a:p>
        </p:txBody>
      </p:sp>
      <p:sp>
        <p:nvSpPr>
          <p:cNvPr id="23" name="Shape 21"/>
          <p:cNvSpPr/>
          <p:nvPr/>
        </p:nvSpPr>
        <p:spPr>
          <a:xfrm>
            <a:off x="8229600" y="5001768"/>
            <a:ext cx="3246120" cy="0"/>
          </a:xfrm>
          <a:prstGeom prst="line">
            <a:avLst/>
          </a:prstGeom>
          <a:noFill/>
          <a:ln w="25400">
            <a:solidFill>
              <a:srgbClr val="EA580C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E74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CyberVault X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99669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Final submission package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835640" y="31089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467"/>
                </a:solidFill>
              </a:rPr>
              <a:t>v5.6.0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3"/>
                </a:solidFill>
              </a:rPr>
              <a:t>What the instructor receives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05740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✓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70432" y="2048256"/>
            <a:ext cx="57607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467"/>
                </a:solidFill>
              </a:rPr>
              <a:t>Source code with clear folders and requirements files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14400" y="24688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70432" y="2459736"/>
            <a:ext cx="57607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467"/>
                </a:solidFill>
              </a:rPr>
              <a:t>Automated tests and release preflight script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14400" y="28803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170432" y="2871216"/>
            <a:ext cx="57607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467"/>
                </a:solidFill>
              </a:rPr>
              <a:t>Final PDF report and markdown source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14400" y="32918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70432" y="3282696"/>
            <a:ext cx="57607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467"/>
                </a:solidFill>
              </a:rPr>
              <a:t>PowerPoint presentation deck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914400" y="370332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✓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70432" y="3694176"/>
            <a:ext cx="57607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467"/>
                </a:solidFill>
              </a:rPr>
              <a:t>README, security model, privacy, limitation, and demo docs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14400" y="411480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70432" y="4105656"/>
            <a:ext cx="57607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467"/>
                </a:solidFill>
              </a:rPr>
              <a:t>GitHub plan showing team contribution split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4400" y="45262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✓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70432" y="4517136"/>
            <a:ext cx="57607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467"/>
                </a:solidFill>
              </a:rPr>
              <a:t>Windows EXE and screenshots after local build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498080" y="1600200"/>
            <a:ext cx="28346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033"/>
                </a:solidFill>
              </a:rPr>
              <a:t>Grade mapping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360920" y="2331720"/>
            <a:ext cx="132588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A34A"/>
                </a:solidFill>
              </a:rPr>
              <a:t>8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360920" y="2834640"/>
            <a:ext cx="13258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475467"/>
                </a:solidFill>
              </a:rPr>
              <a:t>functionality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9144000" y="2331720"/>
            <a:ext cx="132588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3B5F"/>
                </a:solidFill>
              </a:rPr>
              <a:t>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144000" y="2834640"/>
            <a:ext cx="13258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475467"/>
                </a:solidFill>
              </a:rPr>
              <a:t>code/docs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7360920" y="3886200"/>
            <a:ext cx="132588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A580C"/>
                </a:solidFill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360920" y="4389120"/>
            <a:ext cx="13258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475467"/>
                </a:solidFill>
              </a:rPr>
              <a:t>presentation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9144000" y="3886200"/>
            <a:ext cx="132588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7490"/>
                </a:solidFill>
              </a:rPr>
              <a:t>3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9144000" y="4389120"/>
            <a:ext cx="13258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475467"/>
                </a:solidFill>
              </a:rPr>
              <a:t>Q&amp;A</a:t>
            </a:r>
            <a:endParaRPr lang="en-US" sz="8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app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94360"/>
            <a:ext cx="77724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69164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CyberVault X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713232" y="2395728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1E7EF"/>
                </a:solidFill>
              </a:rPr>
              <a:t>Local encryption. Practical security. Demo-ready proof.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13232" y="39319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Q&amp;A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731520" y="4617720"/>
            <a:ext cx="621792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Prepared answers cover AES-GCM, PBKDF2, AAD, breach detection, AI Guardian privacy, Tkinter choice, and project limitations.</a:t>
            </a:r>
            <a:endParaRPr lang="en-US" sz="1200" dirty="0"/>
          </a:p>
        </p:txBody>
      </p:sp>
      <p:pic>
        <p:nvPicPr>
          <p:cNvPr id="7" name="Image 1" descr="assets/spla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960120"/>
            <a:ext cx="4343400" cy="3291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Elsewedy University of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CyberVault X Presentation</dc:title>
  <dc:subject>Secure Password Manager with End-to-End Encryption</dc:subject>
  <dc:creator>CyberVault X Team</dc:creator>
  <cp:lastModifiedBy>CyberVault X Team</cp:lastModifiedBy>
  <cp:revision>1</cp:revision>
  <dcterms:created xsi:type="dcterms:W3CDTF">2026-04-29T15:30:11Z</dcterms:created>
  <dcterms:modified xsi:type="dcterms:W3CDTF">2026-04-29T15:30:11Z</dcterms:modified>
</cp:coreProperties>
</file>